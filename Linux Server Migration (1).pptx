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BM Plex Mono" panose="020B0509050203000203" pitchFamily="49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1F0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236612"/>
            <a:ext cx="7810500" cy="457200"/>
          </a:xfrm>
          <a:prstGeom prst="roundRect">
            <a:avLst>
              <a:gd name="adj" fmla="val 8333"/>
            </a:avLst>
          </a:prstGeom>
          <a:solidFill>
            <a:srgbClr val="331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236612"/>
            <a:ext cx="38100" cy="457200"/>
          </a:xfrm>
          <a:prstGeom prst="rect">
            <a:avLst/>
          </a:prstGeom>
          <a:solidFill>
            <a:srgbClr val="E2D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1312812"/>
            <a:ext cx="78307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800" b="1" i="0" u="none">
                <a:solidFill>
                  <a:srgbClr val="E2D1F9"/>
                </a:solidFill>
                <a:latin typeface="IBM Plex Mono"/>
              </a:rPr>
              <a:t>au@migration:~$ ./present --topic linux-server-migration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98612"/>
            <a:ext cx="1158240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IBM Plex Mono"/>
              </a:rPr>
              <a:t>LINUX SERVER</a:t>
            </a:r>
            <a:r>
              <a:t>
</a:t>
            </a:r>
            <a:r>
              <a:rPr sz="4800" b="1" i="0" u="none">
                <a:solidFill>
                  <a:srgbClr val="FFFFFF"/>
                </a:solidFill>
                <a:latin typeface="IBM Plex Mono"/>
              </a:rPr>
              <a:t>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91954"/>
            <a:ext cx="115824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D3B8EF"/>
                </a:solidFill>
                <a:latin typeface="IBM Plex Mono"/>
              </a:rPr>
              <a:t>Storage • File Systems • User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406354"/>
            <a:ext cx="426303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3B8EF"/>
                </a:solidFill>
                <a:latin typeface="IBM Plex Mono"/>
              </a:rPr>
              <a:t># 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7225" y="4406354"/>
            <a:ext cx="412551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3B8EF"/>
                </a:solidFill>
                <a:latin typeface="IBM Plex Mono"/>
              </a:rPr>
              <a:t># ACADEMICS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815929"/>
            <a:ext cx="4060031" cy="308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IBM Plex Mono"/>
              </a:rPr>
              <a:t>Allen Christ A (2411021061266)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124450"/>
            <a:ext cx="4060031" cy="308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IBM Plex Mono"/>
              </a:rPr>
              <a:t>Shobith I K (2411021061604)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432970"/>
            <a:ext cx="4060031" cy="308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IBM Plex Mono"/>
              </a:rPr>
              <a:t>Srikanth C (2411021061560)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741491"/>
            <a:ext cx="4060031" cy="308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IBM Plex Mono"/>
              </a:rPr>
              <a:t>Anasuya K Anil (L2411021061702)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7225" y="4815929"/>
            <a:ext cx="3929062" cy="308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IBM Plex Mono"/>
              </a:rPr>
              <a:t>Course: E1ITA307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7225" y="5124450"/>
            <a:ext cx="3929062" cy="308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IBM Plex Mono"/>
              </a:rPr>
              <a:t>Faculty: Prof. Ananthanagu 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5432970"/>
            <a:ext cx="3929062" cy="3085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29"/>
              </a:lnSpc>
            </a:pPr>
            <a:r>
              <a:rPr sz="1350" b="0" i="0" u="none">
                <a:solidFill>
                  <a:srgbClr val="FFFFFF"/>
                </a:solidFill>
                <a:latin typeface="IBM Plex Mono"/>
              </a:rPr>
              <a:t>Alliance University, Bengaluru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714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4800" y="114300"/>
            <a:ext cx="3643312" cy="1905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C:\Windows\system32\cmd.exe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[1/14]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514350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962025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ls -l agenda/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PROJECT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0032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01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Introduction &amp;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0321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02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0610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03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Project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0899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04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Tools &amp;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1188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05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5114776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06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Methodology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260032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07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Storage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10321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08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Data Migration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60610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09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Verification &amp;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410899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10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Backup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461188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11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Conclusion &amp;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5114776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800" b="1" i="0" u="none">
                <a:solidFill>
                  <a:srgbClr val="1A1A1A"/>
                </a:solidFill>
                <a:latin typeface="IBM Plex Mono"/>
              </a:rPr>
              <a:t>12</a:t>
            </a:r>
            <a:r>
              <a:rPr sz="1800" b="0" i="0" u="none">
                <a:solidFill>
                  <a:srgbClr val="1A1A1A"/>
                </a:solidFill>
                <a:latin typeface="IBM Plex Mono"/>
              </a:rPr>
              <a:t> Questions &amp; Discussion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7145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04800" y="114300"/>
            <a:ext cx="4357687" cy="1905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[2/14]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594360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772025"/>
            <a:ext cx="10972800" cy="1628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2771775"/>
            <a:ext cx="35052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43400" y="2771775"/>
            <a:ext cx="35052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77200" y="2771775"/>
            <a:ext cx="3505200" cy="13716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772025"/>
            <a:ext cx="10972800" cy="1905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133850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27717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2771775"/>
            <a:ext cx="57150" cy="13716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05275" y="2771775"/>
            <a:ext cx="9525" cy="1371600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4133850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27717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2771775"/>
            <a:ext cx="57150" cy="13716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39075" y="2771775"/>
            <a:ext cx="9525" cy="1371600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7200" y="4133850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27717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7200" y="2771775"/>
            <a:ext cx="57150" cy="13716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2771775"/>
            <a:ext cx="9525" cy="1371600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2000" y="962025"/>
            <a:ext cx="57340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cat introduction.md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INTRODUCTION &amp;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5095875"/>
            <a:ext cx="115824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IBM Plex Mono"/>
              </a:rPr>
              <a:t>Identity Matching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5553075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BM Plex Mono"/>
              </a:rPr>
              <a:t>Linux identifies files by numeric UID/GID.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886450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Source: devuser = 1001:1001.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181725"/>
            <a:ext cx="115824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Destination: Must strictly match 1001:1001.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3009900"/>
            <a:ext cx="391298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IBM Plex Mono"/>
              </a:rPr>
              <a:t>Core Aim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50" y="3467100"/>
            <a:ext cx="30765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Migrate storage and file systems.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9150" y="3009900"/>
            <a:ext cx="391298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IBM Plex Mono"/>
              </a:rPr>
              <a:t>Data Integrity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9150" y="3467100"/>
            <a:ext cx="30765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Preserve permissions and ownership.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2950" y="3009900"/>
            <a:ext cx="38290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IBM Plex Mono"/>
              </a:rPr>
              <a:t>Environment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2950" y="3467100"/>
            <a:ext cx="30765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Two private network Linux VMs.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1430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04800" y="114300"/>
            <a:ext cx="4286250" cy="1905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[3/14]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687705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962025"/>
            <a:ext cx="714017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less problem_statement.txt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RISKS &amp; COUNTERMEASURES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600325"/>
            <a:ext cx="702587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30000"/>
                </a:solidFill>
                <a:latin typeface="IBM Plex Mono"/>
              </a:rPr>
              <a:t>[X] Wrong file owner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981325"/>
            <a:ext cx="669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UID mismatch on destination.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9350" y="2600325"/>
            <a:ext cx="59626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6600"/>
                </a:solidFill>
                <a:latin typeface="IBM Plex Mono"/>
              </a:rPr>
              <a:t>[✓] Countermeasure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9350" y="2981325"/>
            <a:ext cx="59626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Recreate identical numeric IDs.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29000"/>
            <a:ext cx="702587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30000"/>
                </a:solidFill>
                <a:latin typeface="IBM Plex Mono"/>
              </a:rPr>
              <a:t>[X] Lost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810000"/>
            <a:ext cx="669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Permissions and ACLs dropped.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9350" y="3429000"/>
            <a:ext cx="59626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6600"/>
                </a:solidFill>
                <a:latin typeface="IBM Plex Mono"/>
              </a:rPr>
              <a:t>[✓] Countermeasure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9350" y="3810000"/>
            <a:ext cx="59626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Apply strict rsync flags.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257675"/>
            <a:ext cx="702587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30000"/>
                </a:solidFill>
                <a:latin typeface="IBM Plex Mono"/>
              </a:rPr>
              <a:t>[X] Corrupted transfer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638675"/>
            <a:ext cx="669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Incomplete data blocks.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9350" y="4257675"/>
            <a:ext cx="59626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6600"/>
                </a:solidFill>
                <a:latin typeface="IBM Plex Mono"/>
              </a:rPr>
              <a:t>[✓] Countermeasure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9350" y="4638675"/>
            <a:ext cx="59626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Verify SHA-256 checksums.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086350"/>
            <a:ext cx="702587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30000"/>
                </a:solidFill>
                <a:latin typeface="IBM Plex Mono"/>
              </a:rPr>
              <a:t>[X] Silent root 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5467350"/>
            <a:ext cx="6691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Unmounted volumes fill root.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9350" y="5086350"/>
            <a:ext cx="59626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6600"/>
                </a:solidFill>
                <a:latin typeface="IBM Plex Mono"/>
              </a:rPr>
              <a:t>[✓] Countermeasure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9350" y="5467350"/>
            <a:ext cx="59626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Enforce UUID-based fstab mounts.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04800" y="114300"/>
            <a:ext cx="4333875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[4/14]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567690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248025"/>
            <a:ext cx="3505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3248025"/>
            <a:ext cx="3505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3248025"/>
            <a:ext cx="35052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4505325"/>
            <a:ext cx="3505200" cy="1247775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3400" y="4505325"/>
            <a:ext cx="3505200" cy="1247775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77200" y="4505325"/>
            <a:ext cx="3505200" cy="1247775"/>
          </a:xfrm>
          <a:prstGeom prst="roundRect">
            <a:avLst>
              <a:gd name="adj" fmla="val 61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267200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2480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3248025"/>
            <a:ext cx="57150" cy="10287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05275" y="3248025"/>
            <a:ext cx="9525" cy="1028700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4267200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32480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400" y="3248025"/>
            <a:ext cx="57150" cy="10287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39075" y="3248025"/>
            <a:ext cx="9525" cy="1028700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4267200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7200" y="32480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77200" y="3248025"/>
            <a:ext cx="57150" cy="10287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572875" y="3248025"/>
            <a:ext cx="9525" cy="1028700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600" y="57435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600" y="45053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9600" y="4505325"/>
            <a:ext cx="57150" cy="12477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05275" y="4505325"/>
            <a:ext cx="9525" cy="12477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57435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45053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4505325"/>
            <a:ext cx="57150" cy="12477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39075" y="4505325"/>
            <a:ext cx="9525" cy="12477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77200" y="57435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77200" y="45053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77200" y="4505325"/>
            <a:ext cx="57150" cy="12477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572875" y="4505325"/>
            <a:ext cx="9525" cy="12477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000" y="962025"/>
            <a:ext cx="54673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cat objectives.md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TECHNICAL OBJECTIVES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350" y="3486150"/>
            <a:ext cx="391298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BM Plex Mono"/>
              </a:rPr>
              <a:t>01. Partitioning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350" y="3819525"/>
            <a:ext cx="3726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GPT tables and LVM volumes.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29150" y="3486150"/>
            <a:ext cx="391298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BM Plex Mono"/>
              </a:rPr>
              <a:t>02. File Systems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9150" y="3819525"/>
            <a:ext cx="3726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Persistent ext4 UUID mounts.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2950" y="3486150"/>
            <a:ext cx="38290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BM Plex Mono"/>
              </a:rPr>
              <a:t>03. Identity Sync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2950" y="3819525"/>
            <a:ext cx="3726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Exact numeric UIDs and GIDs.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5350" y="4743450"/>
            <a:ext cx="391298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BM Plex Mono"/>
              </a:rPr>
              <a:t>04. Secure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350" y="5076825"/>
            <a:ext cx="3726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SSH tunnel with rsync.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29150" y="4743450"/>
            <a:ext cx="3912989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BM Plex Mono"/>
              </a:rPr>
              <a:t>05. Data Verification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9150" y="5076825"/>
            <a:ext cx="30765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Inventories and SHA-256 validation.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2950" y="4743450"/>
            <a:ext cx="38290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A1A1A"/>
                </a:solidFill>
                <a:latin typeface="IBM Plex Mono"/>
              </a:rPr>
              <a:t>06. Automation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2950" y="5076825"/>
            <a:ext cx="30765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Cron scheduled backup scripts.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52400" cy="152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04800" y="114300"/>
            <a:ext cx="4333875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[5/14]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714375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069085"/>
            <a:ext cx="10972800" cy="10096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962025"/>
            <a:ext cx="7347204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pacman -Qs migration-toolkit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TOOLS &amp;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297685"/>
            <a:ext cx="113538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IBM Plex Mono"/>
              </a:rPr>
              <a:t>HARDWARE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63106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FFFFF"/>
                </a:solidFill>
                <a:latin typeface="IBM Plex Mono"/>
              </a:rPr>
              <a:t>Private network 192.168.56.0/24. 20GB virtual disk on destination.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60032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VirtualBox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Hardware virtualization.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10321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EndeavourOS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Host administration 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60610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lvm2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Flexible volume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08995"/>
            <a:ext cx="657225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ext4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Stable file system.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260032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openssh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Encrypted remote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600" y="310321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rsync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Metadata-aware synchronization.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360610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tar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ACL-compliant archiving.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4108995"/>
            <a:ext cx="5867400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1650" b="1" i="0" u="none">
                <a:solidFill>
                  <a:srgbClr val="1A1A1A"/>
                </a:solidFill>
                <a:latin typeface="IBM Plex Mono"/>
              </a:rPr>
              <a:t>cronie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: Automated job scheduling.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4800" y="114300"/>
            <a:ext cx="4333875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[6/14]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607695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600325"/>
            <a:ext cx="3762375" cy="2886075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20025" y="2600325"/>
            <a:ext cx="3762375" cy="2886075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5476875"/>
            <a:ext cx="3762375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600325"/>
            <a:ext cx="3762375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600325"/>
            <a:ext cx="57150" cy="28860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62450" y="2600325"/>
            <a:ext cx="9525" cy="28860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5350" y="3219450"/>
            <a:ext cx="3238500" cy="1905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20025" y="5476875"/>
            <a:ext cx="3762375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20025" y="2600325"/>
            <a:ext cx="3762375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20025" y="2600325"/>
            <a:ext cx="57150" cy="28860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572875" y="2600325"/>
            <a:ext cx="9525" cy="28860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5775" y="3219450"/>
            <a:ext cx="3238500" cy="1905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000" y="962024"/>
            <a:ext cx="60769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cat architecture.txt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2838450"/>
            <a:ext cx="35004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IBM Plex Mono"/>
              </a:rPr>
              <a:t>SOURCE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467100"/>
            <a:ext cx="40481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1A1A"/>
                </a:solidFill>
                <a:latin typeface="IBM Plex Mono"/>
              </a:rPr>
              <a:t>IP: 192.168.56.10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9175" y="3743325"/>
            <a:ext cx="3167062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A148C"/>
                </a:solidFill>
                <a:latin typeface="IBM Plex Mono"/>
              </a:rPr>
              <a:t>--- SSH Bridge ---&gt;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9737" y="4124325"/>
            <a:ext cx="1440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IBM Plex Mono"/>
              </a:rPr>
              <a:t>rsync -aHAX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5775" y="2838450"/>
            <a:ext cx="350043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IBM Plex Mono"/>
              </a:rPr>
              <a:t>DESTINATION 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5775" y="3467100"/>
            <a:ext cx="40481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1A1A"/>
                </a:solidFill>
                <a:latin typeface="IBM Plex Mono"/>
              </a:rPr>
              <a:t>IP: 192.168.56.20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38766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Users: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devuser, financeuser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42195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Groups: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developers, 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" y="45624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Data: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/srv/company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49053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State: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Legacy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5775" y="38766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Disk: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/dev/sdb (20 GB)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5775" y="42195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Table: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GPT Partition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5775" y="45624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Volumes: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lv_data, lv_backup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5775" y="4905375"/>
            <a:ext cx="4048125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350" b="1" i="0" u="none">
                <a:solidFill>
                  <a:srgbClr val="1A1A1A"/>
                </a:solidFill>
                <a:latin typeface="IBM Plex Mono"/>
              </a:rPr>
              <a:t>Format:</a:t>
            </a:r>
            <a:r>
              <a:rPr sz="1350" b="0" i="0" u="none">
                <a:solidFill>
                  <a:srgbClr val="1A1A1A"/>
                </a:solidFill>
                <a:latin typeface="IBM Plex Mono"/>
              </a:rPr>
              <a:t> ext4 structures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71450" cy="152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04800" y="114300"/>
            <a:ext cx="4357687" cy="1905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[7/14]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687705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600325"/>
            <a:ext cx="1143000" cy="34290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095625"/>
            <a:ext cx="1143000" cy="34290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590925"/>
            <a:ext cx="1143000" cy="34290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4086225"/>
            <a:ext cx="1143000" cy="34290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581525"/>
            <a:ext cx="1143000" cy="34290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962025"/>
            <a:ext cx="6667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git log --oneline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EXECUTION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2676525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BM Plex Mono"/>
              </a:rPr>
              <a:t>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200" y="2633662"/>
            <a:ext cx="92868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BM Plex Mono"/>
              </a:rPr>
              <a:t>Environment Setup: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 Host network and VM snapshot preparation.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171825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BM Plex Mono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1200" y="3128962"/>
            <a:ext cx="897731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BM Plex Mono"/>
              </a:rPr>
              <a:t>Storage Build: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 GPT partitioning and LVM volume allocation.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3667125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BM Plex Mono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1200" y="3624262"/>
            <a:ext cx="91320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BM Plex Mono"/>
              </a:rPr>
              <a:t>Identity Sync: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 Replicating exact user and group structures.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4162425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BM Plex Mono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1200" y="4119562"/>
            <a:ext cx="9441656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BM Plex Mono"/>
              </a:rPr>
              <a:t>Data Migration: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 Secure SSH transport with preserved metadata.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125" y="4657725"/>
            <a:ext cx="11239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IBM Plex Mono"/>
              </a:rPr>
              <a:t>PHASE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1200" y="4614862"/>
            <a:ext cx="91320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A1A1A"/>
                </a:solidFill>
                <a:latin typeface="IBM Plex Mono"/>
              </a:rPr>
              <a:t>Verification:</a:t>
            </a:r>
            <a:r>
              <a:rPr sz="1650" b="0" i="0" u="none">
                <a:solidFill>
                  <a:srgbClr val="1A1A1A"/>
                </a:solidFill>
                <a:latin typeface="IBM Plex Mono"/>
              </a:rPr>
              <a:t> Hash checks and exhaustive integrity testing.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3335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4800" y="114300"/>
            <a:ext cx="4310062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[8/14]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340995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447925"/>
            <a:ext cx="5486400" cy="3138785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962025"/>
            <a:ext cx="32004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au@dest:~$ lsblk &amp;&amp; lvs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DESTINATION STORAGE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676525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FF00"/>
                </a:solidFill>
                <a:latin typeface="IBM Plex Mono"/>
              </a:rPr>
              <a:t># 1. GPT Partitioning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20305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BM Plex Mono"/>
              </a:rPr>
              <a:t>$ fdisk /dev/sdb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407866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FF00"/>
                </a:solidFill>
                <a:latin typeface="IBM Plex Mono"/>
              </a:rPr>
              <a:t># 2. LVM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51646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BM Plex Mono"/>
              </a:rPr>
              <a:t>$ pvcreate /dev/sdb1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95427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BM Plex Mono"/>
              </a:rPr>
              <a:t>$ vgcreate vg_migration /dev/sdb1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139207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BM Plex Mono"/>
              </a:rPr>
              <a:t>$ lvcreate -L 12G -n lv_data vg_migration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382988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BM Plex Mono"/>
              </a:rPr>
              <a:t>$ lvcreate -L 5G -n lv_backup vg_migration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870549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00FF00"/>
                </a:solidFill>
                <a:latin typeface="IBM Plex Mono"/>
              </a:rPr>
              <a:t># 3. File System Creation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114329"/>
            <a:ext cx="6286500" cy="2437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IBM Plex Mono"/>
              </a:rPr>
              <a:t>$ mkfs.ext4 /dev/vg_migration/lv_data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2717155"/>
            <a:ext cx="563880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A1A1A"/>
                </a:solidFill>
                <a:latin typeface="IBM Plex Mono"/>
              </a:rPr>
              <a:t>Volume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221980"/>
            <a:ext cx="56388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500" b="1" i="0" u="none">
                <a:solidFill>
                  <a:srgbClr val="1A1A1A"/>
                </a:solidFill>
                <a:latin typeface="IBM Plex Mono"/>
              </a:rPr>
              <a:t>Raw Device:</a:t>
            </a:r>
            <a:r>
              <a:rPr sz="1500" b="0" i="0" u="none">
                <a:solidFill>
                  <a:srgbClr val="1A1A1A"/>
                </a:solidFill>
                <a:latin typeface="IBM Plex Mono"/>
              </a:rPr>
              <a:t> /dev/sdb (20 GB)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641080"/>
            <a:ext cx="56388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500" b="1" i="0" u="none">
                <a:solidFill>
                  <a:srgbClr val="1A1A1A"/>
                </a:solidFill>
                <a:latin typeface="IBM Plex Mono"/>
              </a:rPr>
              <a:t>Volume Group:</a:t>
            </a:r>
            <a:r>
              <a:rPr sz="1500" b="0" i="0" u="none">
                <a:solidFill>
                  <a:srgbClr val="1A1A1A"/>
                </a:solidFill>
                <a:latin typeface="IBM Plex Mono"/>
              </a:rPr>
              <a:t> vg_migration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060180"/>
            <a:ext cx="56388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500" b="1" i="0" u="none">
                <a:solidFill>
                  <a:srgbClr val="1A1A1A"/>
                </a:solidFill>
                <a:latin typeface="IBM Plex Mono"/>
              </a:rPr>
              <a:t>Logical Volume 1:</a:t>
            </a:r>
            <a:r>
              <a:rPr sz="1500" b="0" i="0" u="none">
                <a:solidFill>
                  <a:srgbClr val="1A1A1A"/>
                </a:solidFill>
                <a:latin typeface="IBM Plex Mono"/>
              </a:rPr>
              <a:t> 12 GB for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479280"/>
            <a:ext cx="56388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500" b="1" i="0" u="none">
                <a:solidFill>
                  <a:srgbClr val="1A1A1A"/>
                </a:solidFill>
                <a:latin typeface="IBM Plex Mono"/>
              </a:rPr>
              <a:t>Logical Volume 2:</a:t>
            </a:r>
            <a:r>
              <a:rPr sz="1500" b="0" i="0" u="none">
                <a:solidFill>
                  <a:srgbClr val="1A1A1A"/>
                </a:solidFill>
                <a:latin typeface="IBM Plex Mono"/>
              </a:rPr>
              <a:t> 5 GB for Backups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4898380"/>
            <a:ext cx="56388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1500" b="1" i="0" u="none">
                <a:solidFill>
                  <a:srgbClr val="1A1A1A"/>
                </a:solidFill>
                <a:latin typeface="IBM Plex Mono"/>
              </a:rPr>
              <a:t>Mount Strategy:</a:t>
            </a:r>
            <a:r>
              <a:rPr sz="1500" b="0" i="0" u="none">
                <a:solidFill>
                  <a:srgbClr val="1A1A1A"/>
                </a:solidFill>
                <a:latin typeface="IBM Plex Mono"/>
              </a:rPr>
              <a:t> Persistent via UUID in fstab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04800" y="114300"/>
            <a:ext cx="4333875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15700" y="1143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[9/14]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554355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600325"/>
          <a:ext cx="10972798" cy="2857500"/>
        </p:xfrm>
        <a:graphic>
          <a:graphicData uri="http://schemas.openxmlformats.org/drawingml/2006/table">
            <a:tbl>
              <a:tblPr/>
              <a:tblGrid>
                <a:gridCol w="2194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5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A1A1A"/>
                          </a:solidFill>
                          <a:latin typeface="IBM Plex Mono"/>
                        </a:rPr>
                        <a:t>Step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A1A1A"/>
                          </a:solidFill>
                          <a:latin typeface="IBM Plex Mono"/>
                        </a:rPr>
                        <a:t>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A1A1A"/>
                          </a:solidFill>
                          <a:latin typeface="IBM Plex Mono"/>
                        </a:rPr>
                        <a:t>Command Flag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A1A1A"/>
                          </a:solidFill>
                          <a:latin typeface="IBM Plex Mono"/>
                        </a:rPr>
                        <a:t>1. ID Sync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Match User / Groups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Replicate exact environment access.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A1A1A"/>
                          </a:solidFill>
                          <a:latin typeface="IBM Plex Mono"/>
                        </a:rPr>
                        <a:t>2. Backup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Archive Source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Preserve ACLs and Extended Attributes.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A1A1A"/>
                          </a:solidFill>
                          <a:latin typeface="IBM Plex Mono"/>
                        </a:rPr>
                        <a:t>3. Dry-Run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Simulate Transfer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rsync -n for safety verification.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A1A1A"/>
                          </a:solidFill>
                          <a:latin typeface="IBM Plex Mono"/>
                        </a:rPr>
                        <a:t>4. Final Sync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Execute Transfer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1A1A1A"/>
                          </a:solidFill>
                          <a:latin typeface="IBM Plex Mono"/>
                        </a:rPr>
                        <a:t>--numeric-ids forces exact ownership.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962025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au@src:~$ rsync -aHAX --numeric-ids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DATA TRANSFER 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4800" y="114300"/>
            <a:ext cx="4333875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0450" y="11430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[10/14]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407670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810125"/>
            <a:ext cx="2571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4810125"/>
            <a:ext cx="2571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810125"/>
            <a:ext cx="2571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010650" y="4810125"/>
            <a:ext cx="257175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59912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8101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4810125"/>
            <a:ext cx="57150" cy="119062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71825" y="4810125"/>
            <a:ext cx="9525" cy="11906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9950" y="59912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9950" y="48101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9950" y="4810125"/>
            <a:ext cx="57150" cy="119062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72175" y="4810125"/>
            <a:ext cx="9525" cy="11906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0300" y="59912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0300" y="48101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0300" y="4810125"/>
            <a:ext cx="57150" cy="119062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772525" y="4810125"/>
            <a:ext cx="9525" cy="11906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10650" y="59912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10650" y="4810125"/>
            <a:ext cx="257175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10650" y="4810125"/>
            <a:ext cx="57150" cy="119062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572875" y="4810125"/>
            <a:ext cx="9525" cy="11906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2000" y="9620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au@dest:~$ ./verify.sh --all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0734" y="2047875"/>
            <a:ext cx="4250531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1A1A1A"/>
                </a:solidFill>
                <a:latin typeface="IBM Plex Mono"/>
              </a:rPr>
              <a:t>VALIDATION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5625" y="2600325"/>
            <a:ext cx="6000750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4A148C"/>
                </a:solidFill>
                <a:latin typeface="IBM Plex Mono"/>
              </a:rPr>
              <a:t>13 /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5687" y="3895725"/>
            <a:ext cx="500062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A1A1A"/>
                </a:solidFill>
                <a:latin typeface="IBM Plex Mono"/>
              </a:rPr>
              <a:t>Test Cases Passed Successfully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369" y="5048250"/>
            <a:ext cx="268783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1A1A"/>
                </a:solidFill>
                <a:latin typeface="IBM Plex Mono"/>
              </a:rPr>
              <a:t>File Inventory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365" y="5381625"/>
            <a:ext cx="25598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A1A1A"/>
                </a:solidFill>
                <a:latin typeface="IBM Plex Mono"/>
              </a:rPr>
              <a:t>Identical counts validated.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75719" y="5048250"/>
            <a:ext cx="268783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1A1A"/>
                </a:solidFill>
                <a:latin typeface="IBM Plex Mono"/>
              </a:rPr>
              <a:t>Metadata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9715" y="5381625"/>
            <a:ext cx="25598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A1A1A"/>
                </a:solidFill>
                <a:latin typeface="IBM Plex Mono"/>
              </a:rPr>
              <a:t>ACLs and modes preserved.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6069" y="5048250"/>
            <a:ext cx="268783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1A1A"/>
                </a:solidFill>
                <a:latin typeface="IBM Plex Mono"/>
              </a:rPr>
              <a:t>Hash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0065" y="5381625"/>
            <a:ext cx="25598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A1A1A"/>
                </a:solidFill>
                <a:latin typeface="IBM Plex Mono"/>
              </a:rPr>
              <a:t>SHA-256 checksums match.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6419" y="5048250"/>
            <a:ext cx="268783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A1A1A"/>
                </a:solidFill>
                <a:latin typeface="IBM Plex Mono"/>
              </a:rPr>
              <a:t>Recovery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0415" y="5381625"/>
            <a:ext cx="255984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A1A1A"/>
                </a:solidFill>
                <a:latin typeface="IBM Plex Mono"/>
              </a:rPr>
              <a:t>Successful file restoration.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3335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04800" y="114300"/>
            <a:ext cx="4310062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20450" y="11430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[11/14]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674370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2600325"/>
            <a:ext cx="3505200" cy="380047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600325"/>
            <a:ext cx="3505200" cy="380047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77200" y="2600325"/>
            <a:ext cx="3505200" cy="3800475"/>
          </a:xfrm>
          <a:prstGeom prst="roundRect">
            <a:avLst>
              <a:gd name="adj" fmla="val 217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63912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6003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600325"/>
            <a:ext cx="57150" cy="38004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05275" y="2600325"/>
            <a:ext cx="9525" cy="38004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63912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6003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600325"/>
            <a:ext cx="57150" cy="38004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39075" y="2600325"/>
            <a:ext cx="9525" cy="38004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77200" y="639127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77200" y="2600325"/>
            <a:ext cx="3505200" cy="952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7200" y="2600325"/>
            <a:ext cx="57150" cy="3800475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572875" y="2600325"/>
            <a:ext cx="9525" cy="3800475"/>
          </a:xfrm>
          <a:prstGeom prst="rect">
            <a:avLst/>
          </a:prstGeom>
          <a:solidFill>
            <a:srgbClr val="D3B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2000" y="962025"/>
            <a:ext cx="7086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6B21A8"/>
                </a:solidFill>
                <a:latin typeface="IBM Plex Mono"/>
              </a:rPr>
              <a:t>au@dest</a:t>
            </a:r>
            <a:r>
              <a:rPr sz="1800" b="1" i="0" u="none" dirty="0">
                <a:solidFill>
                  <a:srgbClr val="6B21A8"/>
                </a:solidFill>
                <a:latin typeface="IBM Plex Mono"/>
              </a:rPr>
              <a:t>:~$ crontab -l &amp;&amp; firewall-</a:t>
            </a:r>
            <a:r>
              <a:rPr sz="1800" b="1" i="0" u="none" dirty="0" err="1">
                <a:solidFill>
                  <a:srgbClr val="6B21A8"/>
                </a:solidFill>
                <a:latin typeface="IBM Plex Mono"/>
              </a:rPr>
              <a:t>cmd</a:t>
            </a:r>
            <a:r>
              <a:rPr sz="1800" b="1" i="0" u="none" dirty="0">
                <a:solidFill>
                  <a:srgbClr val="6B21A8"/>
                </a:solidFill>
                <a:latin typeface="IBM Plex Mono"/>
              </a:rPr>
              <a:t> --list-all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SECURITY &amp;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2838450"/>
            <a:ext cx="391298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A148C"/>
                </a:solidFill>
                <a:latin typeface="IBM Plex Mono"/>
              </a:rPr>
              <a:t>Automated Backups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9150" y="2838450"/>
            <a:ext cx="391298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A148C"/>
                </a:solidFill>
                <a:latin typeface="IBM Plex Mono"/>
              </a:rPr>
              <a:t>Network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2950" y="2838450"/>
            <a:ext cx="382905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A148C"/>
                </a:solidFill>
                <a:latin typeface="IBM Plex Mono"/>
              </a:rPr>
              <a:t>Access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350" y="329565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Bash script execution.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350" y="367278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Scheduled via cronie.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" y="404991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Daily execution at 02:00.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4427041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Output logged persistently.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9150" y="329565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firewalld daemon active.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9150" y="367278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Strict SSH enforcement.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9150" y="404991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Denied unauthorized ports.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29150" y="4427041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Isolated network segment.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2950" y="329565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Script ownership root:root.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2950" y="367278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Execution mode 0750.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2950" y="4049910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Least privilege via groups.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2950" y="4427041"/>
            <a:ext cx="3726656" cy="377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350" b="0" i="0" u="none">
                <a:solidFill>
                  <a:srgbClr val="1A1A1A"/>
                </a:solidFill>
                <a:latin typeface="IBM Plex Mono"/>
              </a:rPr>
              <a:t>Restricted write access.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52400" cy="152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04800" y="114300"/>
            <a:ext cx="4333875" cy="19050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20450" y="11430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[12/14]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714827"/>
          </a:xfrm>
          <a:prstGeom prst="rect">
            <a:avLst/>
          </a:prstGeom>
          <a:solidFill>
            <a:srgbClr val="FA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885825"/>
            <a:ext cx="5676900" cy="457200"/>
          </a:xfrm>
          <a:prstGeom prst="roundRect">
            <a:avLst>
              <a:gd name="adj" fmla="val 8333"/>
            </a:avLst>
          </a:prstGeom>
          <a:solidFill>
            <a:srgbClr val="EF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38100" cy="457200"/>
          </a:xfrm>
          <a:prstGeom prst="rect">
            <a:avLst/>
          </a:prstGeom>
          <a:solidFill>
            <a:srgbClr val="6B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800427"/>
            <a:ext cx="10972800" cy="885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800427"/>
            <a:ext cx="10972800" cy="19050"/>
          </a:xfrm>
          <a:prstGeom prst="rect">
            <a:avLst/>
          </a:prstGeom>
          <a:solidFill>
            <a:srgbClr val="4A14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962025"/>
            <a:ext cx="54673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B21A8"/>
                </a:solidFill>
                <a:latin typeface="IBM Plex Mono"/>
              </a:rPr>
              <a:t>au@migration:~/slides$ cat conclusion.md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647825"/>
            <a:ext cx="11582400" cy="495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A1A1A"/>
                </a:solidFill>
                <a:latin typeface="IBM Plex Mono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598420"/>
            <a:ext cx="13335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A1A1A"/>
                </a:solidFill>
                <a:latin typeface="IBM Plex Mono"/>
              </a:rPr>
              <a:t>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0325"/>
            <a:ext cx="11277600" cy="54858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1800" b="0" i="0" u="none">
                <a:solidFill>
                  <a:srgbClr val="1A1A1A"/>
                </a:solidFill>
                <a:latin typeface="IBM Plex Mono"/>
              </a:rPr>
              <a:t>Completed step-by-step storage and data migration.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147000"/>
            <a:ext cx="13335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A1A1A"/>
                </a:solidFill>
                <a:latin typeface="IBM Plex Mono"/>
              </a:rP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48905"/>
            <a:ext cx="11277600" cy="54858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1800" b="0" i="0" u="none">
                <a:solidFill>
                  <a:srgbClr val="1A1A1A"/>
                </a:solidFill>
                <a:latin typeface="IBM Plex Mono"/>
              </a:rPr>
              <a:t>Permissions and ownership structures perfectly preserved.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3695580"/>
            <a:ext cx="13335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A1A1A"/>
                </a:solidFill>
                <a:latin typeface="IBM Plex Mono"/>
              </a:rP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7485"/>
            <a:ext cx="11277600" cy="54858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1800" b="0" i="0" u="none">
                <a:solidFill>
                  <a:srgbClr val="1A1A1A"/>
                </a:solidFill>
                <a:latin typeface="IBM Plex Mono"/>
              </a:rPr>
              <a:t>Destination constructed from scratch (GPT, LVM, ext4).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4244161"/>
            <a:ext cx="13335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A1A1A"/>
                </a:solidFill>
                <a:latin typeface="IBM Plex Mono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46066"/>
            <a:ext cx="11277600" cy="54858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1800" b="0" i="0" u="none">
                <a:solidFill>
                  <a:srgbClr val="1A1A1A"/>
                </a:solidFill>
                <a:latin typeface="IBM Plex Mono"/>
              </a:rPr>
              <a:t>Identities mapped flawlessly using numeric UIDs/GIDs.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4792741"/>
            <a:ext cx="133350" cy="552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A1A1A"/>
                </a:solidFill>
                <a:latin typeface="IBM Plex Mono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94646"/>
            <a:ext cx="11277600" cy="548580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1800" b="0" i="0" u="none">
                <a:solidFill>
                  <a:srgbClr val="1A1A1A"/>
                </a:solidFill>
                <a:latin typeface="IBM Plex Mono"/>
              </a:rPr>
              <a:t>All 13 validation and integrity checks passed.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048077"/>
            <a:ext cx="115824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A1A1A"/>
                </a:solidFill>
                <a:latin typeface="IBM Plex Mono"/>
              </a:rPr>
              <a:t>Future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429077"/>
            <a:ext cx="115824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A1A1A"/>
                </a:solidFill>
                <a:latin typeface="IBM Plex Mono"/>
              </a:rPr>
              <a:t>Full OS migration, LDAP directory integration, and Ansible automated deployment.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04800" y="114300"/>
            <a:ext cx="4310062" cy="1905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LINUX SERVER MIGRATION | E1ITA307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0450" y="11430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[13/14]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8625"/>
            <a:ext cx="12192000" cy="6429375"/>
          </a:xfrm>
          <a:prstGeom prst="rect">
            <a:avLst/>
          </a:prstGeom>
          <a:solidFill>
            <a:srgbClr val="1F0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76412"/>
            <a:ext cx="3009900" cy="457200"/>
          </a:xfrm>
          <a:prstGeom prst="roundRect">
            <a:avLst>
              <a:gd name="adj" fmla="val 8333"/>
            </a:avLst>
          </a:prstGeom>
          <a:solidFill>
            <a:srgbClr val="331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776412"/>
            <a:ext cx="38100" cy="457200"/>
          </a:xfrm>
          <a:prstGeom prst="rect">
            <a:avLst/>
          </a:prstGeom>
          <a:solidFill>
            <a:srgbClr val="E2D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57400" y="4386262"/>
            <a:ext cx="8077200" cy="1123950"/>
          </a:xfrm>
          <a:prstGeom prst="rect">
            <a:avLst/>
          </a:prstGeom>
          <a:noFill/>
          <a:ln w="19050">
            <a:solidFill>
              <a:srgbClr val="D3B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5762" y="1852612"/>
            <a:ext cx="3457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800" b="1" i="0" u="none">
                <a:solidFill>
                  <a:srgbClr val="E2D1F9"/>
                </a:solidFill>
                <a:latin typeface="IBM Plex Mono"/>
              </a:rPr>
              <a:t>au@migration:~$ exit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99" y="2538412"/>
            <a:ext cx="10413801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FFFFFF"/>
                </a:solidFill>
                <a:latin typeface="IBM Plex Mono"/>
              </a:rPr>
              <a:t>PROCESS 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7593" y="3529012"/>
            <a:ext cx="4976812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D3B8EF"/>
                </a:solidFill>
                <a:latin typeface="IBM Plex Mono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3062" y="4633912"/>
            <a:ext cx="890587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BM Plex Mono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3062" y="5043487"/>
            <a:ext cx="89058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FFFF"/>
                </a:solidFill>
                <a:latin typeface="IBM Plex Mono"/>
              </a:rPr>
              <a:t>Arch Wiki (LVM, rsync, fstab) • rsync documentation • GNU tar 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428625"/>
          </a:xfrm>
          <a:prstGeom prst="rect">
            <a:avLst/>
          </a:prstGeom>
          <a:solidFill>
            <a:srgbClr val="2B07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419100"/>
            <a:ext cx="12192000" cy="9525"/>
          </a:xfrm>
          <a:prstGeom prst="rect">
            <a:avLst/>
          </a:prstGeom>
          <a:solidFill>
            <a:srgbClr val="5A1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3350"/>
            <a:ext cx="1714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4800" y="114300"/>
            <a:ext cx="3643312" cy="190500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C:\Windows\system32\cmd.exe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0450" y="114300"/>
            <a:ext cx="9525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D1F9"/>
                </a:solidFill>
                <a:latin typeface="IBM Plex Mono"/>
              </a:rPr>
              <a:t>[14/14]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1086</Words>
  <Application>Microsoft Office PowerPoint</Application>
  <PresentationFormat>Widescreen</PresentationFormat>
  <Paragraphs>220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Arial</vt:lpstr>
      <vt:lpstr>IBM Plex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Allen Christ</cp:lastModifiedBy>
  <cp:revision>2</cp:revision>
  <dcterms:created xsi:type="dcterms:W3CDTF">2013-01-27T09:14:16Z</dcterms:created>
  <dcterms:modified xsi:type="dcterms:W3CDTF">2026-10-22T17:27:28Z</dcterms:modified>
  <cp:category/>
</cp:coreProperties>
</file>